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1.xml" ContentType="application/vnd.ms-office.webextension+xml"/>
  <Override PartName="/ppt/notesSlides/notesSlide4.xml" ContentType="application/vnd.openxmlformats-officedocument.presentationml.notesSlide+xml"/>
  <Override PartName="/ppt/webextensions/webextension2.xml" ContentType="application/vnd.ms-office.webextension+xml"/>
  <Override PartName="/ppt/webextensions/webextension3.xml" ContentType="application/vnd.ms-office.webextension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6" r:id="rId6"/>
    <p:sldId id="269" r:id="rId7"/>
    <p:sldId id="270" r:id="rId8"/>
    <p:sldId id="278" r:id="rId9"/>
    <p:sldId id="27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04" autoAdjust="0"/>
  </p:normalViewPr>
  <p:slideViewPr>
    <p:cSldViewPr snapToGrid="0" showGuides="1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6/25/2026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6/25/2026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04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3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858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94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5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3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8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9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7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47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3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08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9892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86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10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93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2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6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1611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02B9795-92DC-40DC-A1CA-9A4B349D7824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318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nziesantarin/Capstone_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8094617" y="965196"/>
            <a:ext cx="3137262" cy="263314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800" b="1"/>
              <a:t>Capstone 3:</a:t>
            </a:r>
            <a:br>
              <a:rPr lang="en-US" sz="2800" b="1"/>
            </a:br>
            <a:r>
              <a:rPr lang="en-US" sz="2800" b="1"/>
              <a:t>Emporium east region sales analysis</a:t>
            </a:r>
            <a:br>
              <a:rPr lang="en-US" sz="2800" b="1"/>
            </a:br>
            <a:r>
              <a:rPr lang="en-US" sz="2800" dirty="0"/>
              <a:t>2022 - 2025</a:t>
            </a:r>
            <a:endParaRPr lang="en-US" sz="280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8094617" y="3598339"/>
            <a:ext cx="3137262" cy="1675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</a:pPr>
            <a:r>
              <a:rPr lang="en-US" sz="1600">
                <a:solidFill>
                  <a:srgbClr val="D09A43"/>
                </a:solidFill>
              </a:rPr>
              <a:t>By: Marenza Santarin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A46EEB-10AB-4E52-AF22-A848AE925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614" y="965196"/>
            <a:ext cx="6476539" cy="4781641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" r="1777" b="-3"/>
          <a:stretch>
            <a:fillRect/>
          </a:stretch>
        </p:blipFill>
        <p:spPr>
          <a:xfrm>
            <a:off x="1380489" y="1438360"/>
            <a:ext cx="5562032" cy="383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919119" y="354662"/>
            <a:ext cx="10353762" cy="855784"/>
          </a:xfrm>
        </p:spPr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20" name="TopCard1"/>
          <p:cNvSpPr>
            <a:spLocks noGrp="1"/>
          </p:cNvSpPr>
          <p:nvPr/>
        </p:nvSpPr>
        <p:spPr>
          <a:xfrm>
            <a:off x="700000" y="1315669"/>
            <a:ext cx="5246000" cy="1850000"/>
          </a:xfrm>
          <a:prstGeom prst="roundRect">
            <a:avLst>
              <a:gd name="adj" fmla="val 8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320000" tIns="220000" rIns="320000" bIns="220000" anchor="ctr"/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chemeClr val="lt1">
                    <a:lumMod val="80000"/>
                  </a:schemeClr>
                </a:solidFill>
                <a:latin typeface="+mj-lt"/>
                <a:ea typeface="MS PMincho" panose="020B0400000000000000" pitchFamily="18" charset="-128"/>
              </a:rPr>
              <a:t>SCOPE &amp; TIMEFRAME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latin typeface="+mj-lt"/>
                <a:ea typeface="MS PMincho" panose="020B0400000000000000" pitchFamily="18" charset="-128"/>
              </a:rPr>
              <a:t>EmporiUm East Region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lt1"/>
                </a:solidFill>
                <a:latin typeface="+mj-lt"/>
                <a:ea typeface="MS PMincho" panose="020B0400000000000000" pitchFamily="18" charset="-128"/>
              </a:rPr>
              <a:t>Physical Store Sales  ·  2022-2025</a:t>
            </a:r>
          </a:p>
        </p:txBody>
      </p:sp>
      <p:sp>
        <p:nvSpPr>
          <p:cNvPr id="21" name="TopCard2"/>
          <p:cNvSpPr>
            <a:spLocks noGrp="1"/>
          </p:cNvSpPr>
          <p:nvPr/>
        </p:nvSpPr>
        <p:spPr>
          <a:xfrm>
            <a:off x="6236000" y="1315669"/>
            <a:ext cx="5246000" cy="1850000"/>
          </a:xfrm>
          <a:prstGeom prst="roundRect">
            <a:avLst>
              <a:gd name="adj" fmla="val 8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320000" tIns="220000" rIns="320000" bIns="220000" anchor="ctr"/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ANALYSIS FOCUS AREAS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lt1"/>
                </a:solidFill>
                <a:latin typeface="+mj-lt"/>
              </a:rPr>
              <a:t>Sales Trends  ·  Category Performance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lt1"/>
                </a:solidFill>
                <a:latin typeface="+mj-lt"/>
              </a:rPr>
              <a:t>State &amp; Store Performance  ·  Top-Selling Books</a:t>
            </a:r>
          </a:p>
        </p:txBody>
      </p:sp>
      <p:sp>
        <p:nvSpPr>
          <p:cNvPr id="27" name="BehindLabel"/>
          <p:cNvSpPr>
            <a:spLocks noGrp="1"/>
          </p:cNvSpPr>
          <p:nvPr/>
        </p:nvSpPr>
        <p:spPr>
          <a:xfrm>
            <a:off x="700000" y="3198308"/>
            <a:ext cx="10792000" cy="26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b="0" i="1" dirty="0">
                <a:solidFill>
                  <a:schemeClr val="bg2">
                    <a:lumMod val="25000"/>
                    <a:lumOff val="75000"/>
                  </a:schemeClr>
                </a:solidFill>
                <a:latin typeface="+mj-lt"/>
              </a:rPr>
              <a:t>——  Behind the Scenes  ——</a:t>
            </a:r>
          </a:p>
        </p:txBody>
      </p:sp>
      <p:sp>
        <p:nvSpPr>
          <p:cNvPr id="30" name="StepBox1"/>
          <p:cNvSpPr>
            <a:spLocks noGrp="1"/>
          </p:cNvSpPr>
          <p:nvPr/>
        </p:nvSpPr>
        <p:spPr>
          <a:xfrm>
            <a:off x="591000" y="3490947"/>
            <a:ext cx="1550000" cy="2700000"/>
          </a:xfrm>
          <a:prstGeom prst="roundRect">
            <a:avLst>
              <a:gd name="adj" fmla="val 7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152400" tIns="152400" rIns="152400" bIns="1524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01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+mj-lt"/>
              </a:rPr>
              <a:t>Data Sources</a:t>
            </a: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Raw source Excel &amp; txt files provided</a:t>
            </a:r>
          </a:p>
        </p:txBody>
      </p:sp>
      <p:sp>
        <p:nvSpPr>
          <p:cNvPr id="31" name="Arrow1"/>
          <p:cNvSpPr>
            <a:spLocks noGrp="1"/>
          </p:cNvSpPr>
          <p:nvPr/>
        </p:nvSpPr>
        <p:spPr>
          <a:xfrm>
            <a:off x="2172000" y="4665947"/>
            <a:ext cx="280000" cy="35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StepBox2"/>
          <p:cNvSpPr>
            <a:spLocks noGrp="1"/>
          </p:cNvSpPr>
          <p:nvPr/>
        </p:nvSpPr>
        <p:spPr>
          <a:xfrm>
            <a:off x="2483000" y="3490947"/>
            <a:ext cx="1550000" cy="2700000"/>
          </a:xfrm>
          <a:prstGeom prst="roundRect">
            <a:avLst>
              <a:gd name="adj" fmla="val 7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152400" tIns="152400" rIns="152400" bIns="1524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02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+mj-lt"/>
              </a:rPr>
              <a:t>Load</a:t>
            </a: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Loaded files into Power Query</a:t>
            </a:r>
          </a:p>
        </p:txBody>
      </p:sp>
      <p:sp>
        <p:nvSpPr>
          <p:cNvPr id="33" name="Arrow2"/>
          <p:cNvSpPr>
            <a:spLocks noGrp="1"/>
          </p:cNvSpPr>
          <p:nvPr/>
        </p:nvSpPr>
        <p:spPr>
          <a:xfrm>
            <a:off x="4064000" y="4665947"/>
            <a:ext cx="280000" cy="35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StepBox3"/>
          <p:cNvSpPr>
            <a:spLocks noGrp="1"/>
          </p:cNvSpPr>
          <p:nvPr/>
        </p:nvSpPr>
        <p:spPr>
          <a:xfrm>
            <a:off x="4375000" y="3490947"/>
            <a:ext cx="1550000" cy="2700000"/>
          </a:xfrm>
          <a:prstGeom prst="roundRect">
            <a:avLst>
              <a:gd name="adj" fmla="val 7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152400" tIns="152400" rIns="152400" bIns="1524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03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+mj-lt"/>
              </a:rPr>
              <a:t>Data Cleaning</a:t>
            </a: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Cleaned &amp; merged source files</a:t>
            </a:r>
          </a:p>
        </p:txBody>
      </p:sp>
      <p:sp>
        <p:nvSpPr>
          <p:cNvPr id="35" name="Arrow3"/>
          <p:cNvSpPr>
            <a:spLocks noGrp="1"/>
          </p:cNvSpPr>
          <p:nvPr/>
        </p:nvSpPr>
        <p:spPr>
          <a:xfrm>
            <a:off x="5956000" y="4665947"/>
            <a:ext cx="280000" cy="35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StepBox4"/>
          <p:cNvSpPr>
            <a:spLocks noGrp="1"/>
          </p:cNvSpPr>
          <p:nvPr/>
        </p:nvSpPr>
        <p:spPr>
          <a:xfrm>
            <a:off x="6267000" y="3480194"/>
            <a:ext cx="1550000" cy="2700000"/>
          </a:xfrm>
          <a:prstGeom prst="roundRect">
            <a:avLst>
              <a:gd name="adj" fmla="val 7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152400" tIns="152400" rIns="152400" bIns="1524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04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+mj-lt"/>
              </a:rPr>
              <a:t>Data Modeling</a:t>
            </a: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Star schema connecting all tables</a:t>
            </a:r>
          </a:p>
        </p:txBody>
      </p:sp>
      <p:sp>
        <p:nvSpPr>
          <p:cNvPr id="37" name="Arrow4"/>
          <p:cNvSpPr>
            <a:spLocks noGrp="1"/>
          </p:cNvSpPr>
          <p:nvPr/>
        </p:nvSpPr>
        <p:spPr>
          <a:xfrm>
            <a:off x="7848000" y="4655194"/>
            <a:ext cx="280000" cy="35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StepBox5"/>
          <p:cNvSpPr>
            <a:spLocks noGrp="1"/>
          </p:cNvSpPr>
          <p:nvPr/>
        </p:nvSpPr>
        <p:spPr>
          <a:xfrm>
            <a:off x="8159000" y="3490947"/>
            <a:ext cx="1550000" cy="2700000"/>
          </a:xfrm>
          <a:prstGeom prst="roundRect">
            <a:avLst>
              <a:gd name="adj" fmla="val 7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152400" tIns="152400" rIns="152400" bIns="1524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05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+mj-lt"/>
              </a:rPr>
              <a:t>DAX Measures</a:t>
            </a: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Sales, YoY &amp; store metrics</a:t>
            </a:r>
          </a:p>
        </p:txBody>
      </p:sp>
      <p:sp>
        <p:nvSpPr>
          <p:cNvPr id="39" name="Arrow5"/>
          <p:cNvSpPr>
            <a:spLocks noGrp="1"/>
          </p:cNvSpPr>
          <p:nvPr/>
        </p:nvSpPr>
        <p:spPr>
          <a:xfrm>
            <a:off x="9740000" y="4665947"/>
            <a:ext cx="280000" cy="35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StepBox6"/>
          <p:cNvSpPr>
            <a:spLocks noGrp="1"/>
          </p:cNvSpPr>
          <p:nvPr/>
        </p:nvSpPr>
        <p:spPr>
          <a:xfrm>
            <a:off x="10051000" y="3490947"/>
            <a:ext cx="1550000" cy="2700000"/>
          </a:xfrm>
          <a:prstGeom prst="roundRect">
            <a:avLst>
              <a:gd name="adj" fmla="val 7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lIns="152400" tIns="152400" rIns="152400" bIns="1524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06</a:t>
            </a:r>
          </a:p>
          <a:p>
            <a:pPr algn="ctr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+mj-lt"/>
              </a:rPr>
              <a:t>Visuals</a:t>
            </a:r>
          </a:p>
          <a:p>
            <a:pPr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chemeClr val="lt1">
                    <a:lumMod val="80000"/>
                  </a:schemeClr>
                </a:solidFill>
                <a:latin typeface="+mj-lt"/>
              </a:rPr>
              <a:t>Built the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04653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355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E482A17B-BEC9-CB58-A34C-018437BE7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540401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E482A17B-BEC9-CB58-A34C-018437BE7B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508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8857" y="965196"/>
            <a:ext cx="4583022" cy="26331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GitHub Link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23268" y="3739016"/>
            <a:ext cx="5334978" cy="1675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E2795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https://github.com/renziesantarin/Capstone_3</a:t>
            </a:r>
            <a:endParaRPr lang="en-US" sz="2000" dirty="0">
              <a:solidFill>
                <a:srgbClr val="E2795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89FD50-33A2-88AB-EEF6-A93B090614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73" b="-1"/>
          <a:stretch>
            <a:fillRect/>
          </a:stretch>
        </p:blipFill>
        <p:spPr>
          <a:xfrm>
            <a:off x="1184030" y="1311752"/>
            <a:ext cx="4571192" cy="423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948e6db8-8e66-4fcf-b3ee-75dc9eeee15b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YTU/cMBD9KygXLtvKdj6c9Fa2vQFCXYSEKg5jewIpJl45DrBF+987Tpa2oC30g1Joe0s8k5l5703sSa4S03RzC4tdOMPkVbLl3OkZ+NMNnkySdlwrTcqyCoVmIssFY5lIDVndPDSu7ZJXV0kAf4zhoOl6sDEQLb4/miRg7R4cx7sabIeTZI6+cy3Y5iOOzmQKvsflJMHLuXUeYshZgIAx7Dm50z2VwF+mlBF0aM5xhjqMq1pyZEYVJctMqTJWYBrdutFhqGytSww9pJ+6NkDTUpq4xmTFU1NUTCklUBWsJJy03jXtsV0V/OXZ/cU8khPwMih3GflQHyhxjLRcEqBalBWXGauIMGC6AMMhPl03NqwSqsXby7knrojBMdprcw6txkgvEeKxG/FfJTsIXe8HVt7eMMxc7zW+w3owtaEJC4ozC87jxgwskR+L2fOOuB9M+y6A/cp04i6mHolxwsqWR7RyJ14N3qxMNyDTjTfotxYDnDeNv1ZJTG5V/LugUO1kLnnNSkDOhKG2lYIXhXg6tO97aDtYtedfwf4tRKMIsiy5rrUxumKSF0LwvHwKIuzixcaho91t9Jm6vg3PXYZvYBqFQNRS6hqNlkbkQtI+qJ6CELTxtpEb3Ye/SYtvw1rJUXNhGGMVVEqkBWKu2L1yTImKY+cbPSC8qcjU2f6s/d7K31CkjX1QFm8XfojgX+zQaXiyRoLJMzqeLJ3m0xPw4XYzjLMDJfrw1XSwonZskd/C5dEwC/DaYJFjIXSaZyyXwNLsEXW/q2OvGXjesmvbd8Qkmi3wa+X/88PJw7fg98k6dqAp0RSSCalyBiABlXwSB8Hduk8e92UYPzx+ov2Ma/vwv+++MLja9nItM25ymsMxzyupOf7CLP6Q+/PPiNzZRqO/IXByhvThGy8MBBhQzMdEDY52ZwYzDiCvku2GgI+xD8D2MezmFnSN3oxaraaEtXoN7t2DH1SftaqrNDNKlJyVqixUBSq7X6tHeiujadvp4efAP6Tcj3ByNBSxXA/R9aGbg8Y9aHENVIIIrUFzD9zhH85nsMvlJ6tBWfU7EgAA&quot;"/>
    <we:property name="creatorSessionId" value="&quot;d903ace0-d808-4897-9c1e-e33bd139347d&quot;"/>
    <we:property name="creatorTenantId" value="&quot;bbce5c37-f181-4d0c-9310-7f877336e1cf&quot;"/>
    <we:property name="creatorUserId" value="&quot;10032005A84173F9&quot;"/>
    <we:property name="datasetId" value="&quot;9ad6c4c5-df19-41c4-a070-309b27842964&quot;"/>
    <we:property name="design" value="{&quot;border&quot;:{&quot;isActive&quot;:true,&quot;color&quot;:&quot;#808080&quot;,&quot;width&quot;:1,&quot;transparency&quot;:0,&quot;dash&quot;:&quot;solid&quot;}}"/>
    <we:property name="embedUrl" value="&quot;/reportEmbed?reportId=6e11bdef-cbab-4cde-83d2-d7a4e260bf6f&amp;config=eyJjbHVzdGVyVXJsIjoiaHR0cHM6Ly9XQUJJLVdFU1QtVVMtRS1QUklNQVJZLXJlZGlyZWN0LmFuYWx5c2lzLndpbmRvd3MubmV0IiwiZW1iZWRGZWF0dXJlcyI6eyJ1c2FnZU1ldHJpY3NWTmV4dCI6dHJ1ZX19&amp;disableSensitivityBanner=true&amp;storytellingChangeViewModeShortcutKeys=true&quot;"/>
    <we:property name="initialStateBookmark" value="&quot;H4sIAAAAAAAAA+1YW0/cOhD+KygvfdlT2bk56RtseWqhqIsqVUfoaGxPIK2JV45D2aL97x076QW0hV4ohfa8JZ7JzHzfN7EnuUh02y8NrPbhFJMnyY61b0/Bvd3iySzpprUXL57tbb989t/+9t4uLdulb23XJ08uEg/uGP2rth/AhAi0+O/RLAFjDuA43DVgepwlS3S97cC073F0JpN3A65nCZ4vjXUQQi48eAxhz8id7ik3f5xRRlC+PcMFKj+uKsGRaVlWLNeVzFmJWXDrR4dY2UaXEDqmn9vOQ9tRmrDGRM0zXdZMSpmiLFmV6bDet92xmQr+/OzhahlY8XjupT0PfMg3lDhEWq8JUJNWNRc5qxnLgakSNIfwdNMaPyWUq93zpSOuiMEx2rY+g06hTiIhDvsR/0Wyh9APLrKye8mwsINT+BKbaOp861cUZ+Gtw60FGCI/FHPgLHEfTYfWg/nCdGLfzR0S44SVrY9o5Vq8CpyeTJcg043T6HZWEc7T1n1UKZ1dqfhXQaHayVzxhlWAnKVaZ0ykvCzT+0P7oYOuh6k9/wj2ryAaRRBVxVWjtFY1E7xMU15U90GEfXy39drStjb6zO3Q+Ycuw1cwjUIgKiFUg1oJnRapoH1Q3gchaOPtAjdq8H+SFl+HNcnR8FQzxmqoZZqViIVkN8oxJyqOrWtVRHhZkbk1w2n3rZU/pUhbhyANXi38NYL7Z49Ow5MNEswe0PFk6DSfn4DzV5thnB0o0ZsvpoOJ2rFFfgmXR3EW4I3GssAyVVmRs0IAy/I71P26jv3IwMOWXZmhJyZR74DbKP/vH05uvwW/TdaxA3WFuhQsFbJgAAJQintxEFyv++xuX4bxw+MH2k/bbvD/991nBqdtr1Ai57qgORyLohaK40/M4re5P/+IyL1pFbpLAienSB++4UKDh4hiOSZqcbRbHc0YQV4kz1sCPsZ+BWYIYR/tQN+qR0GraUrYqFd072/9oPqkVVNnuZZpxVklq1LWIPObtbqjtzKYnlsVfw78Rcp9DydHsYj1Zoh28P0SFB5AhxugEkToNOob4MZ/OElMQuy2oaGufyD82flEznr9ARYKCYlkEgAA&quot;"/>
    <we:property name="isFiltersActionButtonVisible" value="true"/>
    <we:property name="isVisualContainerHeaderHidden" value="false"/>
    <we:property name="pageDisplayName" value="&quot;Store Sales Overview&quot;"/>
    <we:property name="pageName" value="&quot;c71e0db6804d8b406e33&quot;"/>
    <we:property name="reportEmbeddedTime" value="&quot;2026-06-23T22:27:08.136Z&quot;"/>
    <we:property name="reportName" value="&quot;Santarin_capstone3&quot;"/>
    <we:property name="reportState" value="&quot;CONNECTED&quot;"/>
    <we:property name="reportUrl" value="&quot;/groups/me/reports/6e11bdef-cbab-4cde-83d2-d7a4e260bf6f/c71e0db6804d8b406e33?bookmarkGuid=da8c0527-aa61-4d79-a255-ca1c17ab8bec&amp;bookmarkUsage=1&amp;ctid=bbce5c37-f181-4d0c-9310-7f877336e1cf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f49015e-4f67-4033-89be-d151bc0a1526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Y227jNhD9FUMv2wJGQYm6UHnLpmlR7CYbbIIURREUI3Ica1cWBYpK7A3y7x1SctbOHWkuLlo/WcPRcOac4SGpi0CVbVPBYh9mGGwF77X+OgPzdRQG46AebJ8+fdjb/vzhr/3tvV0y68aWum6DrYvAgjlFe1y2HVQuAhn/PBkHUFUHcOqeJlC1OA4aNK2uoSq/Ye9MQ9Z0eDkOcN5U2oALeWjBogt7Ru70THOHP3GaEaQtz/AQpe2tChAinkdpkaSCc8YUY+TW9g4+s1tdXGg//Y6uLZQ1TeNsyQSjNEEoZB6CAJUmofdty/q0GhL+/u7RonGoWJzbQs8dHsUXmthFurx0BXEeZqESmDFUKeMiS3y0SVnZYcJisTtvDGFFCPbRttUZ1BJV4AEx2Pb1XwR7CG1nPCq7awOHujMSP+PED9W2tAuKc2i1wdEhVAS+S+bAaMLeD/2KVC9UI0fxaEd3tfUeU32+Y5CAV8EWuzwhy71lSzBqGFqrnB6MQvN+4av6uTRLsqLxtcRfuCIqgbwyEU+KTGQYhwIiQchCsQkkbFNr08oYraXuPP/tXNxXWE8JYxkPE1paLM5jRcRAlmwCJUe6oeapaweS7Oyodz0v7XTF/5mYcaGSnCAQIhexiOOUsziVG9GaDod9PB/9oUn+XxqEVKRKFTGTKkxSJiLJON4NwrARkZSqLGOKnFkaIeY8Lyj0ANEOJXaqTSn9fH0gF+d4uZlQ9/9i9MxHHLa7hjyvsCEsVOdyHAd9BVTjOPh9ig5eeoeaRJV2gHdf25uY/1av29rhvaqb1Q8w1D/4lK6vrM5OtSErJXMMVec3WQr7sbRupfkSnZlc666qnCOtN7/qrjfLozK5icddCV3viPEVUzItogRiBhxTJSMVpjJ/K6ZehJShhMWjaHnnxLAd/TBo44/vlhy9FEMr2a1zFDqObmXhJdIY7CNP4a3t8prqZmlXukvL3iCVIwN1C8OB9QnqaqGocHf+9jv/OrL9Xp9kYYgiTsM85RDnaaYi/qC850moZD4RIZMcijyKEh7/M9FoV0VjtYTX0o0bYPVXnEeJxnIvfja1uIfDZVqvoRb3puGGPmrpr4ObsU6ffvypupZYRdXDszMFYzdvtS4v1+TyZeX6fLWDPLrnn8TviT8MSgEFY1BwHokoZ7lKYvGgWiRMcBkxnik6DUZ0maAr/n9YLVZuMJshGG++QDdNu/4XjGcTDJUiYiwiLKTKlcQsV5EL+bQPdjJKQpZnKowTzoq4UAkmT43mA363BDM0p54F3dm2AYkHUPfq0fRVluj9qCmhVq5R/H+vVbcsc/85NfCTUDYlnQAfeMF9ZA2G2yD9/gafnLBn7xUAAA==&quot;"/>
    <we:property name="creatorSessionId" value="&quot;a01e0b07-b469-4bfb-9d98-be6c063b3e27&quot;"/>
    <we:property name="creatorTenantId" value="&quot;bbce5c37-f181-4d0c-9310-7f877336e1cf&quot;"/>
    <we:property name="creatorUserId" value="&quot;10032005A84173F9&quot;"/>
    <we:property name="datasetId" value="&quot;9ad6c4c5-df19-41c4-a070-309b27842964&quot;"/>
    <we:property name="embedUrl" value="&quot;/reportEmbed?reportId=6e11bdef-cbab-4cde-83d2-d7a4e260bf6f&amp;config=eyJjbHVzdGVyVXJsIjoiaHR0cHM6Ly9XQUJJLVdFU1QtVVMtRS1QUklNQVJZLXJlZGlyZWN0LmFuYWx5c2lzLndpbmRvd3MubmV0IiwiZW1iZWRGZWF0dXJlcyI6eyJ1c2FnZU1ldHJpY3NWTmV4dCI6dHJ1ZX19&amp;disableSensitivityBanner=true&amp;storytellingChangeViewModeShortcutKeys=true&quot;"/>
    <we:property name="initialStateBookmark" value="&quot;H4sIAAAAAAAAA+1Y227jNhD9FUMv2wJGQYm6UHnLpmlR7CYbbIIURREUI3Ica1cWBYpK7A3y7x1SctbOHWkuLlo/WcPRcOac4SGpi0CVbVPBYh9mGGwF77X+OgPzdRQG46AebJ8+fdjb/vzhr/3tvV0y68aWum6DrYvAgjlFe1y2HVQuAhn/PBkHUFUHcOqeJlC1OA4aNK2uoSq/Ye9MQ9Z0eDkOcN5U2oALeWjBogt7Ru70THOHP3GaEaQtz/AQpe2tChAinkdpkaSCc8YUY+TW9g4+s1tdXGg//Y6uLZQ1TeNsyQSjNEEoZB6CAJUmofdty/q0GhL+/u7RonGoWJzbQs8dHsUXmthFurx0BXEeZqESmDFUKeMiS3y0SVnZYcJisTtvDGFFCPbRttUZ1BJV4AEx2Pb1XwR7CG1nPCq7awOHujMSP+PED9W2tAuKc2i1wdEhVAS+S+bAaMLeD/2KVC9UI0fxaEd3tfUeU32+Y5CAV8EWuzwhy71lSzBqGFqrnB6MQvN+4av6uTRLsqLxtcRfuCIqgbwyEU+KTGQYhwIiQchCsQkkbFNr08oYraXuPP/tXNxXWE8JYxkPE1paLM5jRcRAlmwCJUe6oeapaweS7Oyodz0v7XTF/5mYcaGSnCAQIhexiOOUsziVG9GaDod9PB/9oUn+XxqEVKRKFTGTKkxSJiLJON4NwrARkZSqLGOKnFkaIeY8Lyj0ANEOJXaqTSn9fH0gF+d4uZlQ9/9i9MxHHLa7hjyvsCEsVOdyHAd9BVTjOPh9ig5eeoeaRJV2gHdf25uY/1av29rhvaqb1Q8w1D/4lK6vrM5OtSErJXMMVec3WQr7sbRupfkSnZlc666qnCOtN7/qrjfLozK5icddCV3viPEVUzItogRiBhxTJSMVpjJ/K6ZehJShhMWjaHnnxLAd/TBo44/vlhy9FEMr2a1zFDqObmXhJdIY7CNP4a3t8prqZmlXukvL3iCVIwN1C8OB9QnqaqGocHf+9jv/OrL9Xp9kYYgiTsM85RDnaaYi/qC850moZD4RIZMcijyKEh7/M9FoV0VjtYTX0o0bYPVXnEeJxnIvfja1uIfDZVqvoRb3puGGPmrpr4ObsU6ffvypupZYRdXDszMFYzdvtS4v1+TyZeX6fLWDPLrnn8TviT8MSgEFY1BwHokoZ7lKYvGgWiRMcBkxnik6DUZ0maAr/n9YLVZuMJshGG++QDdNu/4XjGcTDJUiYiwiLKTKlcQsV5EL+bQPdjJKQpZnKowTzoq4UAkmT43mA363BDM0p54F3dm2AYkHUPfq0fRVluj9qCmhVq5R/H+vVbcsc/85NfCTUDYlnQAfeMF9ZA2G2yD9/gafnLBn7xUAAA==&quot;"/>
    <we:property name="isFiltersActionButtonVisible" value="true"/>
    <we:property name="isVisualContainerHeaderHidden" value="false"/>
    <we:property name="pageDisplayName" value="&quot;Book and Store Performance Detail&quot;"/>
    <we:property name="pageName" value="&quot;daea23926b5683300d00&quot;"/>
    <we:property name="reportEmbeddedTime" value="&quot;2026-06-23T22:30:12.059Z&quot;"/>
    <we:property name="reportName" value="&quot;Santarin_capstone3&quot;"/>
    <we:property name="reportState" value="&quot;CONNECTED&quot;"/>
    <we:property name="reportUrl" value="&quot;/groups/me/reports/6e11bdef-cbab-4cde-83d2-d7a4e260bf6f/daea23926b5683300d00?bookmarkGuid=89f98e3f-57f0-4e35-b65c-a7cae55e041a&amp;bookmarkUsage=1&amp;ctid=bbce5c37-f181-4d0c-9310-7f877336e1cf&amp;fromEntryPoint=export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3233F11C-4A8E-4F43-81E0-304BE8CAC748}">
  <we:reference id="wa200003233" version="2.0.0.3" store="en-US" storeType="OMEX"/>
  <we:alternateReferences>
    <we:reference id="WA200003233" version="2.0.0.3" store="WA200003233" storeType="OMEX"/>
  </we:alternateReferences>
  <we:properties>
    <we:property name="embedUrl" value="&quot;/reportEmbed?reportId=6e11bdef-cbab-4cde-83d2-d7a4e260bf6f&amp;config=eyJjbHVzdGVyVXJsIjoiaHR0cHM6Ly9XQUJJLVdFU1QtVVMtRS1QUklNQVJZLXJlZGlyZWN0LmFuYWx5c2lzLndpbmRvd3MubmV0IiwiZW1iZWRGZWF0dXJlcyI6eyJ1c2FnZU1ldHJpY3NWTmV4dCI6dHJ1ZX19&amp;disableSensitivityBanner=true&amp;storytellingChangeViewModeShortcutKeys=true&quot;"/>
    <we:property name="bookmark" value="&quot;H4sIAAAAAAAAA91YTW/jNhD9K4aA3oyC4odI5tZ499YWQR0sUBQ5DMmxV7uKZFB0ajfwf+9Q8n7ECYJi26KqThZn6Jn33pASOY9FqPtdA8ef4R6Lq+K66z7eQ/y4KItl0Y42p4W0LmhpjGfKseC9IG+3S3XX9sXVY5EgbjG9q/s9NDkQGX+7WxbQNDewzaMNND0uix3Gvmuhqf/AcTK5UtzjaVngYdd0EXLIdYKEOewDTacxQSi/zxnBp/oB1+jTaFUeudxsLK9Q88pyLzWnaf04YUD24pQceki/6toEdUtpsg2FNIxrMB6Z14ZzECzb+7rdNmfAX/57e9xlcRIekusOWQ/3gRLnSKcTERLa6pJJZCi1KUWlFR+ibeomnRO649vDLpJWpOAY7YfwAK3HUAyCROxH/o/FTwj9Pg6qvH3iWHf76PEX3AyuNtXpSHHWqYu4WEND4mcwN7Ej7QfXbZeg+cr1vvt9FZEUD8UVO92R5VW+HmI4u55QpkEMGK+PA503dfxUJb68QPxvUSHs5DZQMmulNJqhrRirGOopyM4ZV/NQ/QmTUXSlNZcVd8yAqUoHAugNMQ3R5WxElxei+9Jq57gJYIJHBYwJPxHRxWxEFxeiW8aU9opL7Y1SrnKiMhMRnc9GdH4puteu1AqVtpaJylvOJrbSF6v30G5xBto/IzSWQPgQPHMV99w4JsCychKnmWeIF9/NrggDpfM7X4UKdIkMkB4qxYyYShnk3HbCM0Lnsw53ZbBCGePQWRqIMLGzzpx2wguUxjI4E1jQXGsWrFXB0WeZT6QMam474Rmh81WLb+jcXzlLN9uyZIw+EFN5Gan57YQXKJ13glOiFCVIWQW6hQVL17BvL8Oqa/b37V+F/IbUXNyCa/AS8a8I8QXVl58RrMi07WLtB33/DohXdDsnOb6K5H/QdGn2PdUSwzVEqn9M//2KvOy9fOrO0ZQPX/XfPhcgI/uH19bd0GezskRa+pJbAOOCpDNRmeN8S9duCPjFUtxj3A5idfvU78DjDbQ4UNmNaGocO4eHHbQhF3N4jvn3x5oqNqZ+B80+Zx26oMWQJmM//QmJjPvQfRUAAA==&quot;"/>
    <we:property name="datasetId" value="&quot;9ad6c4c5-df19-41c4-a070-309b27842964&quot;"/>
    <we:property name="pageName" value="&quot;5ce24ff926e72692c472&quot;"/>
    <we:property name="reportUrl" value="&quot;/links/QLgz1FHjk6?ctid=bbce5c37-f181-4d0c-9310-7f877336e1cf&amp;bookmarkGuid=54506382-e201-40d9-aa8b-9143abb1219c&quot;"/>
    <we:property name="reportName" value="&quot;Santarin_capstone3&quot;"/>
    <we:property name="reportState" value="&quot;CONNECTED&quot;"/>
    <we:property name="pageDisplayName" value="&quot;Insight Summary&quot;"/>
    <we:property name="backgroundColor" value="&quot;#FFFFFF&quot;"/>
    <we:property name="initialStateBookmark" value="&quot;H4sIAAAAAAAAA91Y32/bNhD+VwwBezMGihRFMW+Jm6cubVAHBYohGI7k2VWrSAJFZ/YC/+87SuqPOEEwdBum6cniHX33fd+REnkPiSu7toLDG7jD5Cy5aJrPd+A/L9JkmdSj7e3b11fn717/9ub86pLMTRvKpu6Ss4ckgN9ieF92O6hiBDL+ertMoKquYRtHG6g6XCYt+q6poSr/wGEyuYLf4XGZ4L6tGg8x5DpAwBj2nqbTmHKnPwvKCDaU97hGGwartMizzUbzHBXPNbeZ4jStGyb0yJ6dEkP36VdNHaCsKU20ocgKxhUUFplVBecgWLR3Zb2tRsDf/ntzaKMqAffBNPuoh/lEiWOk45EICaVVyjJkmKkiFbmSvI+2KaswJjSHy33rSStScIh27u6htuiSXhCP3cD/IblC6Ha+V+XykWPd7LzFd7jpXXUow4HirEPjcbGGisSPYK59Q9r3rpsmQPWd62Pz+8ojKe6SM3a8JcuLfC14N7oeUaaBd+gvDj2dV6X/UiW+PEH8b1Eh7OQuIGVaZ1mhGOqcsZyhmoLsnHE5D9UfMRlEl0rxLOeGFVDkqQEBVkxE9Gw2omcnottUK2N44aBwFiUwJuxERBezEV2ciK4Zk8pKnilbSGlyI/JiIqLz2YjOT0W3yqRKolRaM5FbzdnEVvpi9RHqLc5A+yeEhhII65xlJueWF4YJ0CydxGnmCeLFT7MrQk9pfOdLl4NKkQHSQy5ZIaZShmxuO+EJofGsw03qtJBFYdBoGgg3sbPOnHbCM5SGMpjCMae4UsxpLZ2hzzKfSBnk3HbCE0LjVYtv6NyfG0032zRljD4QU3kZyfnthGcojTvBSJGKFLIsd3QLc5quYT9ehlVT7e7qvwr5Fam5uAFT4SniDwj+GdWXXxGsyLRtfGl7ff8OiBd0G5McXkTyP2i6VLuOaonuAjzV34f/fkWe9l6+dOdoyqfv+m9fCxCR/cNr67bvs+ksRVr6GdcAhXEZnYnSGOdHunZ9wG+W5A79ther2YWuBYvXUGNPpR3QlDh0Dvct1C4Ws3/28feXkio2pH4P1S5m7bugSZ+E0JSR2ct/iL3RpIcVuR7/BMo6a1SmFQAA&quot;"/>
    <we:property name="isFiltersActionButtonVisible" value="true"/>
    <we:property name="isVisualContainerHeaderHidden" value="false"/>
    <we:property name="reportEmbeddedTime" value="&quot;2026-06-26T01:50:44.794Z&quot;"/>
    <we:property name="creatorTenantId" value="&quot;bbce5c37-f181-4d0c-9310-7f877336e1cf&quot;"/>
    <we:property name="creatorUserId" value="&quot;10032005A84173F9&quot;"/>
    <we:property name="creatorSessionId" value="&quot;48fcb2f2-58e6-47b5-9a26-bca1b358ee46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349</TotalTime>
  <Words>117</Words>
  <Application>Microsoft Office PowerPoint</Application>
  <PresentationFormat>Widescreen</PresentationFormat>
  <Paragraphs>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Calisto MT</vt:lpstr>
      <vt:lpstr>Euphemia</vt:lpstr>
      <vt:lpstr>Wingdings 2</vt:lpstr>
      <vt:lpstr>Slate</vt:lpstr>
      <vt:lpstr>Capstone 3: Emporium east region sales analysis 2022 - 2025</vt:lpstr>
      <vt:lpstr>Project Overview</vt:lpstr>
      <vt:lpstr>PowerPoint Presentation</vt:lpstr>
      <vt:lpstr>PowerPoint Presentation</vt:lpstr>
      <vt:lpstr>PowerPoint Presentation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marenza santarin</dc:creator>
  <cp:lastModifiedBy>marenza santarin</cp:lastModifiedBy>
  <cp:revision>28</cp:revision>
  <dcterms:created xsi:type="dcterms:W3CDTF">2026-06-23T22:41:15Z</dcterms:created>
  <dcterms:modified xsi:type="dcterms:W3CDTF">2026-06-26T01:51:07Z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